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8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charts/_rels/chart8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801.xlsx"/>
</Relationships>
</file>

<file path=ppt/charts/chart8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354716981132"/>
          <c:y val="0.0533333333333"/>
          <c:w val="0.490566037736"/>
          <c:h val="0.844444444444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建议周数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dPt>
          <c:dPt>
            <c:idx val="1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2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1–4 周：词句基础</c:v>
                </c:pt>
                <c:pt idx="1">
                  <c:v>5–8 周：输入与复述</c:v>
                </c:pt>
                <c:pt idx="2">
                  <c:v>9–12 周：表达与复盘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</c:ser>
        <c:gapWidth val="15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CED9D2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26363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5"/>
          <c:min val="0"/>
        </c:scaling>
        <c:delete val="1"/>
        <c:axPos val="b"/>
        <c:majorGridlines>
          <c:spPr>
            <a:ln w="6350" cap="flat" cmpd="sng" algn="ctr">
              <a:solidFill>
                <a:srgbClr val="CED9D2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CED9D2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26363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max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350">
          <a:solidFill>
            <a:srgbClr val="263631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这份路线面向已经有 N3 基础、想继续走向 N2 的学习者。我们的目标从“看得懂”延伸到“真正会用”：能理解材料，也能在场景里表达。接下来会用五项能力、三个练习策略和一套每周循环，把十二周拆成可以开始的小步骤。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 N3 到 N2，可以把变化理解为五个维度的升级。词汇从识别单词走向在语境中判断意思与搭配；语法从套用句型走向理解语气和立场。阅读要更快抓住论点结构，听力要跟上说话者的意图，表达则要根据场合自然回应。表中的内容是学习能力的概括，不是官方公布的词汇量或考试分数标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项能力不要分开看。词汇和语法是工具，阅读和听力提供真实输入，口语表达把理解变成行动。尤其是输出，会暴露那些“看过但还不会用”的词和句型，所以复盘要把问题带回下一轮输入。练习时可以用同一篇短材料贯穿阅读、听力、模仿和复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孤立背单词能帮我们建立初步印象，却不一定让词汇进入表达。比如“確認”“対応”“状況”“検討”，分别读作“かくにん”“たいおう”“じょうきょう”“けんとう”。把它们连进一句“状況を確認して、対応を検討します。”就能同时记住搭配与使用顺序，意思是先确认情况，再考虑如何应对。下一次遇到类似场景时，尝试换一个主语或对象重新说一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语法学习不要只背一条中文翻译，还要注意它承担什么语气。“嫌いなわけではない”不是简单否定，而是留有余地；“ここでは靴を脱ぐことになっている”用于说明规则。“彼はもう知っているに違いない”表达较强的推断；“読むばかりか、話すこともできる”让信息递进。每学一个句型，可以写一条与自己真实生活有关的句子，再检查这种语气是否适合场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“私はそう思いません。”意思清楚，但在熟悉的对话里可能显得比较直接。换成“そうは思わないかな。”，就给对方留了一点余地，语气也更柔和。在正式场合，“そうは思いません。”仍然可以使用。自然表达的重点不是固定替换某一句，而是根据关系、场合和立场选择合适的说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周可以围绕一段真实材料跑完一个闭环。先读或听，整理重要词句和说话意图；接着跟读或改写，再用一分钟复述输出。最后只记下一个错误和一个值得复用的表达，避免复盘变成抄写清单。输出不是终点，它会告诉你下一周应该重点输入什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N2 可以是一个阶段性目标，但真正值得保留的是持续输入和输出的能力。十二周路线是学习规划示意：前四周把词汇和语法放进短句，中间四周加强阅读、听力和复述，后四周侧重场景表达、模拟与复盘；每阶段建议四周，并非官方标准。今天就可以选择一段短材料，完成一次输入和一次输出，开始自己的第一轮循环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3_to_n2_learning_rou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3_to_n2_learning_rout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801.xml"/>
  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-field"/>
          <p:cNvSpPr/>
          <p:nvPr/>
        </p:nvSpPr>
        <p:spPr>
          <a:xfrm>
            <a:off x="8191500" y="0"/>
            <a:ext cx="40005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kicker"/>
          <p:cNvGrpSpPr/>
          <p:nvPr/>
        </p:nvGrpSpPr>
        <p:grpSpPr>
          <a:xfrm>
            <a:off x="771525" y="749300"/>
            <a:ext cx="2910611" cy="264033"/>
            <a:chOff x="771525" y="749300"/>
            <a:chExt cx="2910611" cy="264033"/>
          </a:xfrm>
        </p:grpSpPr>
        <p:sp>
          <p:nvSpPr>
            <p:cNvPr id="3" name="Ellipse 3"/>
            <p:cNvSpPr/>
            <p:nvPr/>
          </p:nvSpPr>
          <p:spPr>
            <a:xfrm>
              <a:off x="771525" y="7620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892" y="749300"/>
              <a:ext cx="2641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JAPANESE LEARNING PATH</a:t>
              </a:r>
            </a:p>
          </p:txBody>
        </p:sp>
      </p:grpSp>
      <p:grpSp>
        <p:nvGrpSpPr>
          <p:cNvPr id="9" name="main-title"/>
          <p:cNvGrpSpPr/>
          <p:nvPr/>
        </p:nvGrpSpPr>
        <p:grpSpPr>
          <a:xfrm>
            <a:off x="666750" y="1892300"/>
            <a:ext cx="5207508" cy="1889125"/>
            <a:chOff x="666750" y="1892300"/>
            <a:chExt cx="5207508" cy="1889125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1892300"/>
              <a:ext cx="355281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 N3 到 N2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2730500"/>
              <a:ext cx="520750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日语学习</a:t>
              </a:r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进阶路线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733800"/>
              <a:ext cx="904875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subtitle"/>
          <p:cNvGrpSpPr/>
          <p:nvPr/>
        </p:nvGrpSpPr>
        <p:grpSpPr>
          <a:xfrm>
            <a:off x="674370" y="4445000"/>
            <a:ext cx="3718179" cy="956945"/>
            <a:chOff x="674370" y="4445000"/>
            <a:chExt cx="3718179" cy="956945"/>
          </a:xfrm>
        </p:grpSpPr>
        <p:sp>
          <p:nvSpPr>
            <p:cNvPr id="10" name="TextBox 10"/>
            <p:cNvSpPr txBox="1"/>
            <p:nvPr/>
          </p:nvSpPr>
          <p:spPr>
            <a:xfrm>
              <a:off x="674370" y="4445000"/>
              <a:ext cx="37181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从“看得懂”走向“真正会用”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180" y="5108575"/>
              <a:ext cx="2963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词汇 · 语法 · 阅读 · 听力 · 表达</a:t>
              </a:r>
            </a:p>
          </p:txBody>
        </p:sp>
      </p:grpSp>
      <p:grpSp>
        <p:nvGrpSpPr>
          <p:cNvPr id="19" name="progress-motif"/>
          <p:cNvGrpSpPr/>
          <p:nvPr/>
        </p:nvGrpSpPr>
        <p:grpSpPr>
          <a:xfrm>
            <a:off x="8604504" y="1914525"/>
            <a:ext cx="2615946" cy="3349371"/>
            <a:chOff x="8604504" y="1914525"/>
            <a:chExt cx="2615946" cy="3349371"/>
          </a:xfrm>
        </p:grpSpPr>
        <p:sp>
          <p:nvSpPr>
            <p:cNvPr id="13" name="Rectangle 13"/>
            <p:cNvSpPr/>
            <p:nvPr/>
          </p:nvSpPr>
          <p:spPr>
            <a:xfrm>
              <a:off x="8686800" y="4248150"/>
              <a:ext cx="723900" cy="552450"/>
            </a:xfrm>
            <a:prstGeom prst="roundRect">
              <a:avLst>
                <a:gd name="adj" fmla="val 2069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591675" y="3457575"/>
              <a:ext cx="723900" cy="1343025"/>
            </a:xfrm>
            <a:prstGeom prst="roundRect">
              <a:avLst>
                <a:gd name="adj" fmla="val 1578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96550" y="2400300"/>
              <a:ext cx="723900" cy="2400300"/>
            </a:xfrm>
            <a:prstGeom prst="roundRect">
              <a:avLst>
                <a:gd name="adj" fmla="val 1578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725150" y="1914525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04504" y="50292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71404" y="502920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N2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79704" y="6115050"/>
            <a:ext cx="10964189" cy="368046"/>
            <a:chOff x="679704" y="6115050"/>
            <a:chExt cx="10964189" cy="368046"/>
          </a:xfrm>
        </p:grpSpPr>
        <p:sp>
          <p:nvSpPr>
            <p:cNvPr id="20" name="Line 20"/>
            <p:cNvSpPr/>
            <p:nvPr/>
          </p:nvSpPr>
          <p:spPr>
            <a:xfrm>
              <a:off x="685800" y="6115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24840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周学习路线 · 测试演示文稿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90529" y="62484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611886" y="777875"/>
            <a:ext cx="5682828" cy="918464"/>
            <a:chOff x="611886" y="777875"/>
            <a:chExt cx="5682828" cy="918464"/>
          </a:xfrm>
        </p:grpSpPr>
        <p:sp>
          <p:nvSpPr>
            <p:cNvPr id="2" name="TextBox 2"/>
            <p:cNvSpPr txBox="1"/>
            <p:nvPr/>
          </p:nvSpPr>
          <p:spPr>
            <a:xfrm>
              <a:off x="621792" y="777875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认识目标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11886" y="1050925"/>
              <a:ext cx="56828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N3 → N2，到底提升在哪里？</a:t>
              </a:r>
            </a:p>
          </p:txBody>
        </p:sp>
      </p:grpSp>
      <p:graphicFrame>
        <p:nvGraphicFramePr>
          <p:cNvPr id="5" name="n3-n2-comparison"/>
          <p:cNvGraphicFramePr>
            <a:graphicFrameLocks noGrp="1"/>
          </p:cNvGraphicFramePr>
          <p:nvPr/>
        </p:nvGraphicFramePr>
        <p:xfrm>
          <a:off x="857250" y="1857375"/>
          <a:ext cx="10477500" cy="34861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87113"/>
                <a:gridCol w="3793577"/>
                <a:gridCol w="4696810"/>
              </a:tblGrid>
              <a:tr h="62865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N3：看得懂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N2：用得出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词汇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识别常见单词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结合语境判断意思与搭配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语法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套用熟悉句型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读懂语气与隐含立场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逐句理解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快速抓论点与结构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听力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捕捉关键词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跟上说话者的意图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zh-CN" sz="165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句子基本正确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65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根据场合自然回应</a:t>
                      </a:r>
                    </a:p>
                  </a:txBody>
                  <a:tcPr anchor="ctr" marL="104775" marR="104775" marT="104775" marB="104775">
                    <a:lnL w="9525">
                      <a:solidFill>
                        <a:schemeClr val="accent6"/>
                      </a:solidFill>
                      <a:prstDash val="solid"/>
                    </a:lnL>
                    <a:lnR w="9525">
                      <a:solidFill>
                        <a:schemeClr val="accent6"/>
                      </a:solidFill>
                      <a:prstDash val="solid"/>
                    </a:lnR>
                    <a:lnT w="9525">
                      <a:solidFill>
                        <a:schemeClr val="accent6"/>
                      </a:solidFill>
                      <a:prstDash val="soli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8" name="takeaway"/>
          <p:cNvGrpSpPr/>
          <p:nvPr/>
        </p:nvGrpSpPr>
        <p:grpSpPr>
          <a:xfrm>
            <a:off x="952500" y="5575300"/>
            <a:ext cx="5849112" cy="352044"/>
            <a:chOff x="952500" y="5575300"/>
            <a:chExt cx="5849112" cy="352044"/>
          </a:xfrm>
        </p:grpSpPr>
        <p:sp>
          <p:nvSpPr>
            <p:cNvPr id="6" name="Ellipse 6"/>
            <p:cNvSpPr/>
            <p:nvPr/>
          </p:nvSpPr>
          <p:spPr>
            <a:xfrm>
              <a:off x="952500" y="56483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0056" y="557530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进阶的关键：更快、更准地理解，再给出得体回应。</a:t>
              </a:r>
            </a:p>
          </p:txBody>
        </p:sp>
      </p:grpSp>
      <p:grpSp>
        <p:nvGrpSpPr>
          <p:cNvPr id="11" name="footer"/>
          <p:cNvGrpSpPr/>
          <p:nvPr/>
        </p:nvGrpSpPr>
        <p:grpSpPr>
          <a:xfrm>
            <a:off x="685800" y="6172200"/>
            <a:ext cx="10958093" cy="358521"/>
            <a:chOff x="685800" y="6172200"/>
            <a:chExt cx="10958093" cy="358521"/>
          </a:xfrm>
        </p:grpSpPr>
        <p:sp>
          <p:nvSpPr>
            <p:cNvPr id="9" name="Line 9"/>
            <p:cNvSpPr/>
            <p:nvPr/>
          </p:nvSpPr>
          <p:spPr>
            <a:xfrm>
              <a:off x="685800" y="617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090529" y="62960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611886" y="777875"/>
            <a:ext cx="6697218" cy="918464"/>
            <a:chOff x="611886" y="777875"/>
            <a:chExt cx="6697218" cy="918464"/>
          </a:xfrm>
        </p:grpSpPr>
        <p:sp>
          <p:nvSpPr>
            <p:cNvPr id="2" name="TextBox 2"/>
            <p:cNvSpPr txBox="1"/>
            <p:nvPr/>
          </p:nvSpPr>
          <p:spPr>
            <a:xfrm>
              <a:off x="621792" y="777875"/>
              <a:ext cx="151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学习能力地图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11886" y="10509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五项能力，是一张互相带动的地图</a:t>
              </a:r>
            </a:p>
          </p:txBody>
        </p:sp>
      </p:grpSp>
      <p:grpSp>
        <p:nvGrpSpPr>
          <p:cNvPr id="12" name="tools"/>
          <p:cNvGrpSpPr/>
          <p:nvPr/>
        </p:nvGrpSpPr>
        <p:grpSpPr>
          <a:xfrm>
            <a:off x="762000" y="2339975"/>
            <a:ext cx="2571750" cy="2136775"/>
            <a:chOff x="762000" y="2339975"/>
            <a:chExt cx="2571750" cy="2136775"/>
          </a:xfrm>
        </p:grpSpPr>
        <p:sp>
          <p:nvSpPr>
            <p:cNvPr id="5" name="TextBox 5"/>
            <p:cNvSpPr txBox="1"/>
            <p:nvPr/>
          </p:nvSpPr>
          <p:spPr>
            <a:xfrm>
              <a:off x="840867" y="23399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基础工具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2781300"/>
              <a:ext cx="2571750" cy="742950"/>
            </a:xfrm>
            <a:prstGeom prst="roundRect">
              <a:avLst>
                <a:gd name="adj" fmla="val 2051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71550" y="3057525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04163" y="299720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词汇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3733800"/>
              <a:ext cx="2571750" cy="742950"/>
            </a:xfrm>
            <a:prstGeom prst="roundRect">
              <a:avLst>
                <a:gd name="adj" fmla="val 2051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971550" y="4010025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04163" y="394970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</p:grpSp>
      <p:grpSp>
        <p:nvGrpSpPr>
          <p:cNvPr id="18" name="input"/>
          <p:cNvGrpSpPr/>
          <p:nvPr/>
        </p:nvGrpSpPr>
        <p:grpSpPr>
          <a:xfrm>
            <a:off x="4362450" y="2339975"/>
            <a:ext cx="2571750" cy="2136775"/>
            <a:chOff x="4362450" y="2339975"/>
            <a:chExt cx="2571750" cy="2136775"/>
          </a:xfrm>
        </p:grpSpPr>
        <p:sp>
          <p:nvSpPr>
            <p:cNvPr id="13" name="TextBox 13"/>
            <p:cNvSpPr txBox="1"/>
            <p:nvPr/>
          </p:nvSpPr>
          <p:spPr>
            <a:xfrm>
              <a:off x="4441317" y="23399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真实输入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62450" y="2781300"/>
              <a:ext cx="2571750" cy="742950"/>
            </a:xfrm>
            <a:prstGeom prst="roundRect">
              <a:avLst>
                <a:gd name="adj" fmla="val 20513"/>
              </a:avLst>
            </a:prstGeom>
            <a:solidFill>
              <a:srgbClr val="E7EFEB"/>
            </a:solidFill>
            <a:ln w="9525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37913" y="299720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阅读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62450" y="3733800"/>
              <a:ext cx="2571750" cy="742950"/>
            </a:xfrm>
            <a:prstGeom prst="roundRect">
              <a:avLst>
                <a:gd name="adj" fmla="val 20513"/>
              </a:avLst>
            </a:prstGeom>
            <a:solidFill>
              <a:srgbClr val="E7EFEB"/>
            </a:solidFill>
            <a:ln w="9525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37913" y="394970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听力</a:t>
              </a:r>
            </a:p>
          </p:txBody>
        </p:sp>
      </p:grpSp>
      <p:grpSp>
        <p:nvGrpSpPr>
          <p:cNvPr id="23" name="output"/>
          <p:cNvGrpSpPr/>
          <p:nvPr/>
        </p:nvGrpSpPr>
        <p:grpSpPr>
          <a:xfrm>
            <a:off x="8001000" y="2339975"/>
            <a:ext cx="2762250" cy="2003425"/>
            <a:chOff x="8001000" y="2339975"/>
            <a:chExt cx="2762250" cy="2003425"/>
          </a:xfrm>
        </p:grpSpPr>
        <p:sp>
          <p:nvSpPr>
            <p:cNvPr id="19" name="TextBox 19"/>
            <p:cNvSpPr txBox="1"/>
            <p:nvPr/>
          </p:nvSpPr>
          <p:spPr>
            <a:xfrm>
              <a:off x="8070342" y="23399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主动输出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01000" y="3028950"/>
              <a:ext cx="2762250" cy="1314450"/>
            </a:xfrm>
            <a:prstGeom prst="roundRect">
              <a:avLst>
                <a:gd name="adj" fmla="val 1594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43722" y="3419475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口语表达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60867" y="39116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7EFEB"/>
                  </a:solidFill>
                  <a:latin typeface="+mn-lt"/>
                  <a:ea typeface="+mn-ea"/>
                  <a:cs typeface="+mn-cs"/>
                </a:rPr>
                <a:t>说出来，才知道缺什么</a:t>
              </a:r>
            </a:p>
          </p:txBody>
        </p:sp>
      </p:grpSp>
      <p:grpSp>
        <p:nvGrpSpPr>
          <p:cNvPr id="26" name="tools-to-input"/>
          <p:cNvGrpSpPr/>
          <p:nvPr/>
        </p:nvGrpSpPr>
        <p:grpSpPr>
          <a:xfrm>
            <a:off x="3381375" y="3562350"/>
            <a:ext cx="895350" cy="114300"/>
            <a:chOff x="3381375" y="3562350"/>
            <a:chExt cx="895350" cy="114300"/>
          </a:xfrm>
        </p:grpSpPr>
        <p:sp>
          <p:nvSpPr>
            <p:cNvPr id="24" name="Line 24"/>
            <p:cNvSpPr/>
            <p:nvPr/>
          </p:nvSpPr>
          <p:spPr>
            <a:xfrm>
              <a:off x="3381375" y="361950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162425" y="35623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input-to-output"/>
          <p:cNvGrpSpPr/>
          <p:nvPr/>
        </p:nvGrpSpPr>
        <p:grpSpPr>
          <a:xfrm>
            <a:off x="6972300" y="3562350"/>
            <a:ext cx="952500" cy="114300"/>
            <a:chOff x="6972300" y="3562350"/>
            <a:chExt cx="952500" cy="114300"/>
          </a:xfrm>
        </p:grpSpPr>
        <p:sp>
          <p:nvSpPr>
            <p:cNvPr id="27" name="Line 27"/>
            <p:cNvSpPr/>
            <p:nvPr/>
          </p:nvSpPr>
          <p:spPr>
            <a:xfrm>
              <a:off x="6972300" y="361950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810500" y="35623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5" name="feedback"/>
          <p:cNvGrpSpPr/>
          <p:nvPr/>
        </p:nvGrpSpPr>
        <p:grpSpPr>
          <a:xfrm>
            <a:off x="1685925" y="4800600"/>
            <a:ext cx="7772400" cy="953770"/>
            <a:chOff x="1685925" y="4800600"/>
            <a:chExt cx="7772400" cy="953770"/>
          </a:xfrm>
        </p:grpSpPr>
        <p:sp>
          <p:nvSpPr>
            <p:cNvPr id="30" name="Line 30"/>
            <p:cNvSpPr/>
            <p:nvPr/>
          </p:nvSpPr>
          <p:spPr>
            <a:xfrm>
              <a:off x="9448800" y="4867275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743075" y="5286375"/>
              <a:ext cx="7705725" cy="9525"/>
            </a:xfrm>
            <a:custGeom>
              <a:avLst/>
              <a:gdLst/>
              <a:ahLst/>
              <a:cxnLst/>
              <a:rect l="l" t="t" r="r" b="b"/>
              <a:pathLst>
                <a:path w="7705725" h="9525">
                  <a:moveTo>
                    <a:pt x="0" y="0"/>
                  </a:moveTo>
                  <a:lnTo>
                    <a:pt x="77057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743075" y="485775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4286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685925" y="48006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40530" y="546100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复盘：输出暴露缺口，再回到词汇与语法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85800" y="6172200"/>
            <a:ext cx="10958093" cy="358521"/>
            <a:chOff x="685800" y="6172200"/>
            <a:chExt cx="10958093" cy="358521"/>
          </a:xfrm>
        </p:grpSpPr>
        <p:sp>
          <p:nvSpPr>
            <p:cNvPr id="36" name="Line 36"/>
            <p:cNvSpPr/>
            <p:nvPr/>
          </p:nvSpPr>
          <p:spPr>
            <a:xfrm>
              <a:off x="685800" y="617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090529" y="62960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611886" y="777875"/>
            <a:ext cx="7279180" cy="918464"/>
            <a:chOff x="611886" y="777875"/>
            <a:chExt cx="7279180" cy="918464"/>
          </a:xfrm>
        </p:grpSpPr>
        <p:sp>
          <p:nvSpPr>
            <p:cNvPr id="2" name="TextBox 2"/>
            <p:cNvSpPr txBox="1"/>
            <p:nvPr/>
          </p:nvSpPr>
          <p:spPr>
            <a:xfrm>
              <a:off x="621792" y="777875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词汇策略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11886" y="1050925"/>
              <a:ext cx="72791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词汇：从“记住意思”到“知道怎么用”</a:t>
              </a:r>
            </a:p>
          </p:txBody>
        </p:sp>
      </p:grpSp>
      <p:grpSp>
        <p:nvGrpSpPr>
          <p:cNvPr id="12" name="isolated"/>
          <p:cNvGrpSpPr/>
          <p:nvPr/>
        </p:nvGrpSpPr>
        <p:grpSpPr>
          <a:xfrm>
            <a:off x="723900" y="2165350"/>
            <a:ext cx="3333750" cy="3153283"/>
            <a:chOff x="723900" y="2165350"/>
            <a:chExt cx="3333750" cy="3153283"/>
          </a:xfrm>
        </p:grpSpPr>
        <p:sp>
          <p:nvSpPr>
            <p:cNvPr id="5" name="TextBox 5"/>
            <p:cNvSpPr txBox="1"/>
            <p:nvPr/>
          </p:nvSpPr>
          <p:spPr>
            <a:xfrm>
              <a:off x="754380" y="21653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孤立背单词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23900" y="2571750"/>
              <a:ext cx="3333750" cy="2333625"/>
            </a:xfrm>
            <a:prstGeom prst="roundRect">
              <a:avLst>
                <a:gd name="adj" fmla="val 734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8225" y="2838450"/>
              <a:ext cx="132244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確認 = 确认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8225" y="3314700"/>
              <a:ext cx="132244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対応 = 应对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8225" y="3790950"/>
              <a:ext cx="132244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状況 = 情况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8225" y="4267200"/>
              <a:ext cx="132244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検討 = 研究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2767" y="50546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记得释义，却不一定能说出来</a:t>
              </a:r>
            </a:p>
          </p:txBody>
        </p:sp>
      </p:grpSp>
      <p:grpSp>
        <p:nvGrpSpPr>
          <p:cNvPr id="15" name="transition"/>
          <p:cNvGrpSpPr/>
          <p:nvPr/>
        </p:nvGrpSpPr>
        <p:grpSpPr>
          <a:xfrm>
            <a:off x="4429125" y="3352800"/>
            <a:ext cx="742950" cy="152400"/>
            <a:chOff x="4429125" y="3352800"/>
            <a:chExt cx="742950" cy="152400"/>
          </a:xfrm>
        </p:grpSpPr>
        <p:sp>
          <p:nvSpPr>
            <p:cNvPr id="13" name="Line 13"/>
            <p:cNvSpPr/>
            <p:nvPr/>
          </p:nvSpPr>
          <p:spPr>
            <a:xfrm>
              <a:off x="4429125" y="3429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5019675" y="3352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23" name="context-learning"/>
          <p:cNvGrpSpPr/>
          <p:nvPr/>
        </p:nvGrpSpPr>
        <p:grpSpPr>
          <a:xfrm>
            <a:off x="5429250" y="2165350"/>
            <a:ext cx="5857875" cy="3153283"/>
            <a:chOff x="5429250" y="2165350"/>
            <a:chExt cx="5857875" cy="3153283"/>
          </a:xfrm>
        </p:grpSpPr>
        <p:sp>
          <p:nvSpPr>
            <p:cNvPr id="16" name="TextBox 16"/>
            <p:cNvSpPr txBox="1"/>
            <p:nvPr/>
          </p:nvSpPr>
          <p:spPr>
            <a:xfrm>
              <a:off x="5507355" y="21653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语境式学习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429250" y="2571750"/>
              <a:ext cx="5857875" cy="2333625"/>
            </a:xfrm>
            <a:prstGeom prst="roundRect">
              <a:avLst>
                <a:gd name="adj" fmla="val 7347"/>
              </a:avLst>
            </a:prstGeom>
            <a:solidFill>
              <a:srgbClr val="E7EFE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06999" y="2819400"/>
              <a:ext cx="201537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一句话串起四个词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03951" y="3222625"/>
              <a:ext cx="2513838" cy="874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525"/>
                </a:lnSpc>
              </a:pPr>
              <a:r>
                <a:rPr lang="ja-JP" sz="21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状況を確認して、</a:t>
              </a:r>
              <a:br>
                <a:rPr lang="ja-JP" sz="21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ja-JP" sz="21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対応を検討します。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715000" y="420052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07380" y="44227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确认情况后，再研究如何应对。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98592" y="50546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把词放入搭配、场景与真实表达</a:t>
              </a:r>
            </a:p>
          </p:txBody>
        </p:sp>
      </p:grpSp>
      <p:grpSp>
        <p:nvGrpSpPr>
          <p:cNvPr id="25" name="reading"/>
          <p:cNvGrpSpPr/>
          <p:nvPr/>
        </p:nvGrpSpPr>
        <p:grpSpPr>
          <a:xfrm>
            <a:off x="755142" y="5664200"/>
            <a:ext cx="7364978" cy="264033"/>
            <a:chOff x="755142" y="5664200"/>
            <a:chExt cx="7364978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755142" y="5664200"/>
              <a:ext cx="7364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読み：確認（かくにん） · 対応（たいおう） · 状況（じょうきょう） · 検討（けんとう）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85800" y="6172200"/>
            <a:ext cx="10958093" cy="358521"/>
            <a:chOff x="685800" y="6172200"/>
            <a:chExt cx="10958093" cy="358521"/>
          </a:xfrm>
        </p:grpSpPr>
        <p:sp>
          <p:nvSpPr>
            <p:cNvPr id="26" name="Line 26"/>
            <p:cNvSpPr/>
            <p:nvPr/>
          </p:nvSpPr>
          <p:spPr>
            <a:xfrm>
              <a:off x="685800" y="617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090529" y="62960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611886" y="777875"/>
            <a:ext cx="5433338" cy="918464"/>
            <a:chOff x="611886" y="777875"/>
            <a:chExt cx="5433338" cy="918464"/>
          </a:xfrm>
        </p:grpSpPr>
        <p:sp>
          <p:nvSpPr>
            <p:cNvPr id="2" name="TextBox 2"/>
            <p:cNvSpPr txBox="1"/>
            <p:nvPr/>
          </p:nvSpPr>
          <p:spPr>
            <a:xfrm>
              <a:off x="621792" y="777875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语法策略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11886" y="1050925"/>
              <a:ext cx="543333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语法：学的是“说话的角度”</a:t>
              </a:r>
            </a:p>
          </p:txBody>
        </p:sp>
      </p:grpSp>
      <p:grpSp>
        <p:nvGrpSpPr>
          <p:cNvPr id="10" name="grammar-1"/>
          <p:cNvGrpSpPr/>
          <p:nvPr/>
        </p:nvGrpSpPr>
        <p:grpSpPr>
          <a:xfrm>
            <a:off x="723900" y="2038350"/>
            <a:ext cx="4953000" cy="1609725"/>
            <a:chOff x="723900" y="2038350"/>
            <a:chExt cx="4953000" cy="1609725"/>
          </a:xfrm>
        </p:grpSpPr>
        <p:sp>
          <p:nvSpPr>
            <p:cNvPr id="5" name="Rectangle 5"/>
            <p:cNvSpPr/>
            <p:nvPr/>
          </p:nvSpPr>
          <p:spPr>
            <a:xfrm>
              <a:off x="723900" y="2038350"/>
              <a:ext cx="4953000" cy="1609725"/>
            </a:xfrm>
            <a:prstGeom prst="roundRect">
              <a:avLst>
                <a:gd name="adj" fmla="val 94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23900" y="2038350"/>
              <a:ext cx="57150" cy="16097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99744" y="21875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～わけではない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00506" y="270827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嫌いなわけではない。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2030" y="3136900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并不是讨厌 · 留有余地</a:t>
              </a:r>
            </a:p>
          </p:txBody>
        </p:sp>
      </p:grpSp>
      <p:grpSp>
        <p:nvGrpSpPr>
          <p:cNvPr id="16" name="grammar-2"/>
          <p:cNvGrpSpPr/>
          <p:nvPr/>
        </p:nvGrpSpPr>
        <p:grpSpPr>
          <a:xfrm>
            <a:off x="6477000" y="2038350"/>
            <a:ext cx="4953000" cy="1609725"/>
            <a:chOff x="6477000" y="2038350"/>
            <a:chExt cx="4953000" cy="1609725"/>
          </a:xfrm>
        </p:grpSpPr>
        <p:sp>
          <p:nvSpPr>
            <p:cNvPr id="11" name="Rectangle 11"/>
            <p:cNvSpPr/>
            <p:nvPr/>
          </p:nvSpPr>
          <p:spPr>
            <a:xfrm>
              <a:off x="6477000" y="2038350"/>
              <a:ext cx="4953000" cy="1609725"/>
            </a:xfrm>
            <a:prstGeom prst="roundRect">
              <a:avLst>
                <a:gd name="adj" fmla="val 9467"/>
              </a:avLst>
            </a:prstGeom>
            <a:solidFill>
              <a:srgbClr val="E7EFE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477000" y="2038350"/>
              <a:ext cx="57150" cy="16097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52844" y="21875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～ことになっている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53606" y="270827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ここでは靴を脱ぐことになっている。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55130" y="3136900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这里规定要脱鞋 · 说明规则</a:t>
              </a:r>
            </a:p>
          </p:txBody>
        </p:sp>
      </p:grpSp>
      <p:grpSp>
        <p:nvGrpSpPr>
          <p:cNvPr id="22" name="grammar-3"/>
          <p:cNvGrpSpPr/>
          <p:nvPr/>
        </p:nvGrpSpPr>
        <p:grpSpPr>
          <a:xfrm>
            <a:off x="723900" y="3895725"/>
            <a:ext cx="4953000" cy="1609725"/>
            <a:chOff x="723900" y="3895725"/>
            <a:chExt cx="4953000" cy="1609725"/>
          </a:xfrm>
        </p:grpSpPr>
        <p:sp>
          <p:nvSpPr>
            <p:cNvPr id="17" name="Rectangle 17"/>
            <p:cNvSpPr/>
            <p:nvPr/>
          </p:nvSpPr>
          <p:spPr>
            <a:xfrm>
              <a:off x="723900" y="3895725"/>
              <a:ext cx="4953000" cy="1609725"/>
            </a:xfrm>
            <a:prstGeom prst="roundRect">
              <a:avLst>
                <a:gd name="adj" fmla="val 9467"/>
              </a:avLst>
            </a:prstGeom>
            <a:solidFill>
              <a:srgbClr val="E7EFE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3900" y="3895725"/>
              <a:ext cx="57150" cy="16097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9744" y="404495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～に違いない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0506" y="456565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彼はもう知っているに違いない。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2030" y="499427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他一定已经知道 · 强烈推断</a:t>
              </a:r>
            </a:p>
          </p:txBody>
        </p:sp>
      </p:grpSp>
      <p:grpSp>
        <p:nvGrpSpPr>
          <p:cNvPr id="28" name="grammar-4"/>
          <p:cNvGrpSpPr/>
          <p:nvPr/>
        </p:nvGrpSpPr>
        <p:grpSpPr>
          <a:xfrm>
            <a:off x="6477000" y="3895725"/>
            <a:ext cx="4953000" cy="1609725"/>
            <a:chOff x="6477000" y="3895725"/>
            <a:chExt cx="4953000" cy="1609725"/>
          </a:xfrm>
        </p:grpSpPr>
        <p:sp>
          <p:nvSpPr>
            <p:cNvPr id="23" name="Rectangle 23"/>
            <p:cNvSpPr/>
            <p:nvPr/>
          </p:nvSpPr>
          <p:spPr>
            <a:xfrm>
              <a:off x="6477000" y="3895725"/>
              <a:ext cx="4953000" cy="1609725"/>
            </a:xfrm>
            <a:prstGeom prst="roundRect">
              <a:avLst>
                <a:gd name="adj" fmla="val 94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7000" y="3895725"/>
              <a:ext cx="57150" cy="16097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2844" y="4044950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～ばかりか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3606" y="456565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読むばかりか、話すこともできる。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55130" y="49942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不仅能读，还能说 · 递进</a:t>
              </a:r>
            </a:p>
          </p:txBody>
        </p:sp>
      </p:grpSp>
      <p:grpSp>
        <p:nvGrpSpPr>
          <p:cNvPr id="30" name="takeaway"/>
          <p:cNvGrpSpPr/>
          <p:nvPr/>
        </p:nvGrpSpPr>
        <p:grpSpPr>
          <a:xfrm>
            <a:off x="754380" y="5775325"/>
            <a:ext cx="4457700" cy="293370"/>
            <a:chOff x="754380" y="5775325"/>
            <a:chExt cx="4457700" cy="293370"/>
          </a:xfrm>
        </p:grpSpPr>
        <p:sp>
          <p:nvSpPr>
            <p:cNvPr id="29" name="TextBox 29"/>
            <p:cNvSpPr txBox="1"/>
            <p:nvPr/>
          </p:nvSpPr>
          <p:spPr>
            <a:xfrm>
              <a:off x="754380" y="577532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练法：每学一个句型，写一条自己的真实场景句。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85800" y="6172200"/>
            <a:ext cx="10958093" cy="358521"/>
            <a:chOff x="685800" y="6172200"/>
            <a:chExt cx="10958093" cy="358521"/>
          </a:xfrm>
        </p:grpSpPr>
        <p:sp>
          <p:nvSpPr>
            <p:cNvPr id="31" name="Line 31"/>
            <p:cNvSpPr/>
            <p:nvPr/>
          </p:nvSpPr>
          <p:spPr>
            <a:xfrm>
              <a:off x="685800" y="617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090529" y="62960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611886" y="777875"/>
            <a:ext cx="5364480" cy="918464"/>
            <a:chOff x="611886" y="777875"/>
            <a:chExt cx="5364480" cy="918464"/>
          </a:xfrm>
        </p:grpSpPr>
        <p:sp>
          <p:nvSpPr>
            <p:cNvPr id="2" name="TextBox 2"/>
            <p:cNvSpPr txBox="1"/>
            <p:nvPr/>
          </p:nvSpPr>
          <p:spPr>
            <a:xfrm>
              <a:off x="621792" y="777875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/ 自然表达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11886" y="1050925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表达：正确之后，还要自然</a:t>
              </a:r>
            </a:p>
          </p:txBody>
        </p:sp>
      </p:grpSp>
      <p:grpSp>
        <p:nvGrpSpPr>
          <p:cNvPr id="8" name="textbook"/>
          <p:cNvGrpSpPr/>
          <p:nvPr/>
        </p:nvGrpSpPr>
        <p:grpSpPr>
          <a:xfrm>
            <a:off x="889635" y="2216150"/>
            <a:ext cx="8961120" cy="955040"/>
            <a:chOff x="889635" y="2216150"/>
            <a:chExt cx="8961120" cy="955040"/>
          </a:xfrm>
        </p:grpSpPr>
        <p:sp>
          <p:nvSpPr>
            <p:cNvPr id="5" name="TextBox 5"/>
            <p:cNvSpPr txBox="1"/>
            <p:nvPr/>
          </p:nvSpPr>
          <p:spPr>
            <a:xfrm>
              <a:off x="898017" y="221615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教材里 · 清晰、直接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89635" y="2584450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0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私はそう思いません。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22005" y="27178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我不这么认为。</a:t>
              </a:r>
            </a:p>
          </p:txBody>
        </p:sp>
      </p:grpSp>
      <p:grpSp>
        <p:nvGrpSpPr>
          <p:cNvPr id="12" name="tone-shift"/>
          <p:cNvGrpSpPr/>
          <p:nvPr/>
        </p:nvGrpSpPr>
        <p:grpSpPr>
          <a:xfrm>
            <a:off x="904875" y="3381375"/>
            <a:ext cx="9934575" cy="270383"/>
            <a:chOff x="904875" y="3381375"/>
            <a:chExt cx="9934575" cy="270383"/>
          </a:xfrm>
        </p:grpSpPr>
        <p:sp>
          <p:nvSpPr>
            <p:cNvPr id="9" name="Line 9"/>
            <p:cNvSpPr/>
            <p:nvPr/>
          </p:nvSpPr>
          <p:spPr>
            <a:xfrm>
              <a:off x="904875" y="3476625"/>
              <a:ext cx="9934575" cy="9525"/>
            </a:xfrm>
            <a:custGeom>
              <a:avLst/>
              <a:gdLst/>
              <a:ahLst/>
              <a:cxnLst/>
              <a:rect l="l" t="t" r="r" b="b"/>
              <a:pathLst>
                <a:path w="9934575" h="9525">
                  <a:moveTo>
                    <a:pt x="0" y="0"/>
                  </a:moveTo>
                  <a:lnTo>
                    <a:pt x="9934575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3190875" y="338137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88817" y="33877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语气放柔一些</a:t>
              </a:r>
            </a:p>
          </p:txBody>
        </p:sp>
      </p:grpSp>
      <p:grpSp>
        <p:nvGrpSpPr>
          <p:cNvPr id="17" name="natural"/>
          <p:cNvGrpSpPr/>
          <p:nvPr/>
        </p:nvGrpSpPr>
        <p:grpSpPr>
          <a:xfrm>
            <a:off x="857250" y="4038600"/>
            <a:ext cx="10239375" cy="1381125"/>
            <a:chOff x="857250" y="4038600"/>
            <a:chExt cx="10239375" cy="1381125"/>
          </a:xfrm>
        </p:grpSpPr>
        <p:sp>
          <p:nvSpPr>
            <p:cNvPr id="13" name="Rectangle 13"/>
            <p:cNvSpPr/>
            <p:nvPr/>
          </p:nvSpPr>
          <p:spPr>
            <a:xfrm>
              <a:off x="857250" y="4038600"/>
              <a:ext cx="10239375" cy="1381125"/>
            </a:xfrm>
            <a:prstGeom prst="roundRect">
              <a:avLst>
                <a:gd name="adj" fmla="val 15172"/>
              </a:avLst>
            </a:prstGeom>
            <a:solidFill>
              <a:srgbClr val="E7EFE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55192" y="4225925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熟悉的对话 · 保留一点余地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5286" y="4603750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そうは思わないかな。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12455" y="47847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我倒不太这么想。</a:t>
              </a:r>
            </a:p>
          </p:txBody>
        </p:sp>
      </p:grpSp>
      <p:grpSp>
        <p:nvGrpSpPr>
          <p:cNvPr id="19" name="context-note"/>
          <p:cNvGrpSpPr/>
          <p:nvPr/>
        </p:nvGrpSpPr>
        <p:grpSpPr>
          <a:xfrm>
            <a:off x="925830" y="5661025"/>
            <a:ext cx="5931789" cy="293370"/>
            <a:chOff x="925830" y="5661025"/>
            <a:chExt cx="5931789" cy="293370"/>
          </a:xfrm>
        </p:grpSpPr>
        <p:sp>
          <p:nvSpPr>
            <p:cNvPr id="18" name="TextBox 18"/>
            <p:cNvSpPr txBox="1"/>
            <p:nvPr/>
          </p:nvSpPr>
          <p:spPr>
            <a:xfrm>
              <a:off x="925830" y="5661025"/>
              <a:ext cx="59317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正式场合可以说：</a:t>
              </a:r>
              <a:r>
                <a:rPr lang="ja-JP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そうは思いません。</a:t>
              </a: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场景不同，语气也要调整。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85800" y="6172200"/>
            <a:ext cx="10958093" cy="358521"/>
            <a:chOff x="685800" y="6172200"/>
            <a:chExt cx="10958093" cy="358521"/>
          </a:xfrm>
        </p:grpSpPr>
        <p:sp>
          <p:nvSpPr>
            <p:cNvPr id="20" name="Line 20"/>
            <p:cNvSpPr/>
            <p:nvPr/>
          </p:nvSpPr>
          <p:spPr>
            <a:xfrm>
              <a:off x="685800" y="617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090529" y="62960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611886" y="777875"/>
            <a:ext cx="6252972" cy="918464"/>
            <a:chOff x="611886" y="777875"/>
            <a:chExt cx="6252972" cy="918464"/>
          </a:xfrm>
        </p:grpSpPr>
        <p:sp>
          <p:nvSpPr>
            <p:cNvPr id="2" name="TextBox 2"/>
            <p:cNvSpPr txBox="1"/>
            <p:nvPr/>
          </p:nvSpPr>
          <p:spPr>
            <a:xfrm>
              <a:off x="621792" y="777875"/>
              <a:ext cx="151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/ 每周学习循环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11886" y="1050925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每周只做一件事：跑完一个闭环</a:t>
              </a:r>
            </a:p>
          </p:txBody>
        </p:sp>
      </p:grpSp>
      <p:grpSp>
        <p:nvGrpSpPr>
          <p:cNvPr id="30" name="weekly-loop"/>
          <p:cNvGrpSpPr/>
          <p:nvPr/>
        </p:nvGrpSpPr>
        <p:grpSpPr>
          <a:xfrm>
            <a:off x="1279017" y="2828925"/>
            <a:ext cx="9331833" cy="2584958"/>
            <a:chOff x="1279017" y="2828925"/>
            <a:chExt cx="9331833" cy="2584958"/>
          </a:xfrm>
        </p:grpSpPr>
        <p:sp>
          <p:nvSpPr>
            <p:cNvPr id="5" name="Line 5"/>
            <p:cNvSpPr/>
            <p:nvPr/>
          </p:nvSpPr>
          <p:spPr>
            <a:xfrm>
              <a:off x="1952625" y="3257550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524000" y="2828925"/>
              <a:ext cx="857250" cy="857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3571875" y="2828925"/>
              <a:ext cx="857250" cy="857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629275" y="2828925"/>
              <a:ext cx="857250" cy="857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686675" y="2828925"/>
              <a:ext cx="857250" cy="857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753600" y="2828925"/>
              <a:ext cx="857250" cy="857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07845" y="3082925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55720" y="3082925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13120" y="3082925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70520" y="3082925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37445" y="3082925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95069" y="38544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42944" y="38544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00344" y="38544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57744" y="38544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24669" y="38544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9017" y="4321175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 / 听一段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26892" y="43211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整理词句意图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65242" y="43211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跟读或改写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70267" y="43211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一分钟复述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0517" y="43211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记错误与表达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10182225" y="475297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952625" y="5095875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952625" y="475297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342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850892" y="51498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下一周，带着缺口重新输入</a:t>
              </a:r>
            </a:p>
          </p:txBody>
        </p:sp>
      </p:grpSp>
      <p:grpSp>
        <p:nvGrpSpPr>
          <p:cNvPr id="32" name="takeaway"/>
          <p:cNvGrpSpPr/>
          <p:nvPr/>
        </p:nvGrpSpPr>
        <p:grpSpPr>
          <a:xfrm>
            <a:off x="943356" y="5651500"/>
            <a:ext cx="4864608" cy="352044"/>
            <a:chOff x="943356" y="5651500"/>
            <a:chExt cx="4864608" cy="352044"/>
          </a:xfrm>
        </p:grpSpPr>
        <p:sp>
          <p:nvSpPr>
            <p:cNvPr id="31" name="TextBox 31"/>
            <p:cNvSpPr txBox="1"/>
            <p:nvPr/>
          </p:nvSpPr>
          <p:spPr>
            <a:xfrm>
              <a:off x="943356" y="565150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输出不是终点；它告诉你，下一轮该学什么。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85800" y="6172200"/>
            <a:ext cx="10958093" cy="358521"/>
            <a:chOff x="685800" y="6172200"/>
            <a:chExt cx="10958093" cy="358521"/>
          </a:xfrm>
        </p:grpSpPr>
        <p:sp>
          <p:nvSpPr>
            <p:cNvPr id="33" name="Line 33"/>
            <p:cNvSpPr/>
            <p:nvPr/>
          </p:nvSpPr>
          <p:spPr>
            <a:xfrm>
              <a:off x="685800" y="617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090529" y="62960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field"/>
          <p:cNvSpPr/>
          <p:nvPr/>
        </p:nvSpPr>
        <p:spPr>
          <a:xfrm>
            <a:off x="0" y="0"/>
            <a:ext cx="12192000" cy="2800350"/>
          </a:xfrm>
          <a:prstGeom prst="rect">
            <a:avLst/>
          </a:prstGeom>
          <a:solidFill>
            <a:srgbClr val="E7EFEB"/>
          </a:solidFill>
          <a:ln>
            <a:noFill/>
          </a:ln>
        </p:spPr>
      </p:sp>
      <p:grpSp>
        <p:nvGrpSpPr>
          <p:cNvPr id="6" name="heading"/>
          <p:cNvGrpSpPr/>
          <p:nvPr/>
        </p:nvGrpSpPr>
        <p:grpSpPr>
          <a:xfrm>
            <a:off x="686562" y="749300"/>
            <a:ext cx="7574158" cy="1500950"/>
            <a:chOff x="686562" y="749300"/>
            <a:chExt cx="7574158" cy="1500950"/>
          </a:xfrm>
        </p:grpSpPr>
        <p:sp>
          <p:nvSpPr>
            <p:cNvPr id="3" name="TextBox 3"/>
            <p:cNvSpPr txBox="1"/>
            <p:nvPr/>
          </p:nvSpPr>
          <p:spPr>
            <a:xfrm>
              <a:off x="697992" y="749300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 / 开始行动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6562" y="1060450"/>
              <a:ext cx="757415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N2 不是终点，而是会用日语的起点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94563" y="1854200"/>
              <a:ext cx="545922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建立能够持续输入、输出和复盘日语的能力。</a:t>
              </a:r>
            </a:p>
          </p:txBody>
        </p:sp>
      </p:grpSp>
      <p:grpSp>
        <p:nvGrpSpPr>
          <p:cNvPr id="9" name="chart-caption"/>
          <p:cNvGrpSpPr/>
          <p:nvPr/>
        </p:nvGrpSpPr>
        <p:grpSpPr>
          <a:xfrm>
            <a:off x="971931" y="2889250"/>
            <a:ext cx="9050274" cy="352044"/>
            <a:chOff x="971931" y="2889250"/>
            <a:chExt cx="9050274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971931" y="2889250"/>
              <a:ext cx="15860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 周路线概览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18067" y="29210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学习规划示意</a:t>
              </a:r>
            </a:p>
          </p:txBody>
        </p:sp>
      </p:grpSp>
      <p:graphicFrame>
        <p:nvGraphicFramePr>
          <p:cNvPr id="10" name="twelve-week-phases"/>
          <p:cNvGraphicFramePr>
            <a:graphicFrameLocks noGrp="1"/>
          </p:cNvGraphicFramePr>
          <p:nvPr/>
        </p:nvGraphicFramePr>
        <p:xfrm>
          <a:off x="952500" y="3257550"/>
          <a:ext cx="10096500" cy="2143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3" name="closing-action"/>
          <p:cNvGrpSpPr/>
          <p:nvPr/>
        </p:nvGrpSpPr>
        <p:grpSpPr>
          <a:xfrm>
            <a:off x="1038225" y="5645150"/>
            <a:ext cx="4591050" cy="381381"/>
            <a:chOff x="1038225" y="5645150"/>
            <a:chExt cx="4591050" cy="381381"/>
          </a:xfrm>
        </p:grpSpPr>
        <p:sp>
          <p:nvSpPr>
            <p:cNvPr id="11" name="Ellipse 11"/>
            <p:cNvSpPr/>
            <p:nvPr/>
          </p:nvSpPr>
          <p:spPr>
            <a:xfrm>
              <a:off x="1038225" y="56959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09319" y="5645150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从今天的一次输入、一次输出开始。</a:t>
              </a:r>
            </a:p>
          </p:txBody>
        </p:sp>
      </p:grpSp>
      <p:grpSp>
        <p:nvGrpSpPr>
          <p:cNvPr id="16" name="footer"/>
          <p:cNvGrpSpPr/>
          <p:nvPr/>
        </p:nvGrpSpPr>
        <p:grpSpPr>
          <a:xfrm>
            <a:off x="685800" y="6172200"/>
            <a:ext cx="10958093" cy="358521"/>
            <a:chOff x="685800" y="6172200"/>
            <a:chExt cx="10958093" cy="358521"/>
          </a:xfrm>
        </p:grpSpPr>
        <p:sp>
          <p:nvSpPr>
            <p:cNvPr id="14" name="Line 14"/>
            <p:cNvSpPr/>
            <p:nvPr/>
          </p:nvSpPr>
          <p:spPr>
            <a:xfrm>
              <a:off x="685800" y="617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090529" y="62960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n3_to_n2_learning_route">
  <a:themeElements>
    <a:clrScheme name="n3_to_n2_learning_route">
      <a:dk1>
        <a:srgbClr val="263631"/>
      </a:dk1>
      <a:lt1>
        <a:srgbClr val="FBF9F4"/>
      </a:lt1>
      <a:dk2>
        <a:srgbClr val="1F497D"/>
      </a:dk2>
      <a:lt2>
        <a:srgbClr val="F1F1E9"/>
      </a:lt2>
      <a:accent1>
        <a:srgbClr val="3B625B"/>
      </a:accent1>
      <a:accent2>
        <a:srgbClr val="D38668"/>
      </a:accent2>
      <a:accent3>
        <a:srgbClr val="8DAFAA"/>
      </a:accent3>
      <a:accent4>
        <a:srgbClr val="3B625B"/>
      </a:accent4>
      <a:accent5>
        <a:srgbClr val="586A64"/>
      </a:accent5>
      <a:accent6>
        <a:srgbClr val="CED9D2"/>
      </a:accent6>
      <a:hlink>
        <a:srgbClr val="D38668"/>
      </a:hlink>
      <a:folHlink>
        <a:srgbClr val="8DAFAA"/>
      </a:folHlink>
    </a:clrScheme>
    <a:fontScheme name="n3_to_n2_learning_rout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3_to_n2_learning_rou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3_to_n2_learning_route">
  <a:themeElements>
    <a:clrScheme name="n3_to_n2_learning_route">
      <a:dk1>
        <a:srgbClr val="263631"/>
      </a:dk1>
      <a:lt1>
        <a:srgbClr val="FBF9F4"/>
      </a:lt1>
      <a:dk2>
        <a:srgbClr val="1F497D"/>
      </a:dk2>
      <a:lt2>
        <a:srgbClr val="F1F1E9"/>
      </a:lt2>
      <a:accent1>
        <a:srgbClr val="3B625B"/>
      </a:accent1>
      <a:accent2>
        <a:srgbClr val="D38668"/>
      </a:accent2>
      <a:accent3>
        <a:srgbClr val="8DAFAA"/>
      </a:accent3>
      <a:accent4>
        <a:srgbClr val="3B625B"/>
      </a:accent4>
      <a:accent5>
        <a:srgbClr val="586A64"/>
      </a:accent5>
      <a:accent6>
        <a:srgbClr val="CED9D2"/>
      </a:accent6>
      <a:hlink>
        <a:srgbClr val="D38668"/>
      </a:hlink>
      <a:folHlink>
        <a:srgbClr val="8DAFAA"/>
      </a:folHlink>
    </a:clrScheme>
    <a:fontScheme name="n3_to_n2_learning_rout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3_to_n2_learning_rou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2026-10-07T08:50:07Z</dcterms:created>
  <dcterms:modified xsi:type="dcterms:W3CDTF">2026-10-07T08:50:07Z</dcterms:modified>
  <cp:category/>
  <cp:contentStatus/>
</cp:coreProperties>
</file>